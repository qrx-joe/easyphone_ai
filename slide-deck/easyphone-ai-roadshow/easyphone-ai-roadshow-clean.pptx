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BE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944" y="658368"/>
            <a:ext cx="11430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asyphon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768096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4840" y="102412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F80ED"/>
                </a:solidFill>
                <a:latin typeface="Microsoft YaHei"/>
              </a:rPr>
              <a:t>EasyPhone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02437"/>
                </a:solidFill>
                <a:latin typeface="Microsoft YaHei"/>
              </a:rPr>
              <a:t>爸妈别急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487168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32D38"/>
                </a:solidFill>
                <a:latin typeface="Microsoft YaHei"/>
              </a:rPr>
              <a:t>给低识字中老年人的 AI 语音手机教练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246120"/>
            <a:ext cx="6126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6B5F"/>
                </a:solidFill>
                <a:latin typeface="Microsoft YaHei"/>
              </a:rPr>
              <a:t>普通问题一步一步教，危险问题先停下来。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224528"/>
            <a:ext cx="1097280" cy="310896"/>
          </a:xfrm>
          <a:prstGeom prst="roundRect">
            <a:avLst/>
          </a:prstGeom>
          <a:solidFill>
            <a:srgbClr val="FFF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427939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2437"/>
                </a:solidFill>
                <a:latin typeface="Microsoft YaHei"/>
              </a:rPr>
              <a:t>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4224528"/>
            <a:ext cx="201168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1" y="427939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2437"/>
                </a:solidFill>
                <a:latin typeface="Microsoft YaHei"/>
              </a:rPr>
              <a:t>Elderly Digital Safety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224528"/>
            <a:ext cx="18288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427939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2437"/>
                </a:solidFill>
                <a:latin typeface="Microsoft YaHei"/>
              </a:rPr>
              <a:t>Human-centered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9893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97480"/>
                </a:solidFill>
                <a:latin typeface="Microsoft YaHei"/>
              </a:rPr>
              <a:t>Demo: https://easy-phone-ai.vercel.app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6263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97480"/>
                </a:solidFill>
                <a:latin typeface="Microsoft YaHei"/>
              </a:rPr>
              <a:t>GitHub: github.com/qrx-joe/EasyPhone_AI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2437"/>
                </a:solidFill>
                <a:latin typeface="Microsoft YaHei"/>
              </a:rPr>
              <a:t>问题：智能手机对老人是高压系统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97480"/>
                </a:solidFill>
                <a:latin typeface="Microsoft YaHei"/>
              </a:rPr>
              <a:t>他们不是不想学，而是看不懂、说不清、也不敢点。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1572768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19872" y="1572768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437"/>
                </a:solidFill>
                <a:latin typeface="Microsoft YaHei"/>
              </a:rPr>
              <a:t>老人端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不会打字和搜索</a:t>
            </a:r>
          </a:p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看不懂弹窗和按钮</a:t>
            </a:r>
          </a:p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害怕误删、扣费、被骗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019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437"/>
                </a:solidFill>
                <a:latin typeface="Microsoft YaHei"/>
              </a:rPr>
              <a:t>高风险场景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14600"/>
            <a:ext cx="2788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验证码、转账</a:t>
            </a:r>
          </a:p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陌生链接、二维码</a:t>
            </a:r>
          </a:p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医保短信、屏幕共享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019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437"/>
                </a:solidFill>
                <a:latin typeface="Microsoft YaHei"/>
              </a:rPr>
              <a:t>子女端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514600"/>
            <a:ext cx="2788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电话指导效率低</a:t>
            </a:r>
          </a:p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父母描述不清</a:t>
            </a:r>
          </a:p>
          <a:p>
            <a:pPr>
              <a:spcAft>
                <a:spcPts val="1000"/>
              </a:spcAft>
              <a:defRPr sz="1500">
                <a:solidFill>
                  <a:srgbClr val="232D38"/>
                </a:solidFill>
                <a:latin typeface="Microsoft YaHei"/>
              </a:defRPr>
            </a:pPr>
            <a:r>
              <a:t>担心诈骗发生在身边之外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89320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5F"/>
                </a:solidFill>
                <a:latin typeface="Microsoft YaHei"/>
              </a:rPr>
              <a:t>真正的缺口不是“更多教程”，而是一个能慢慢教、也敢及时停下来的安全教练。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Microsoft YaHei"/>
              </a:rPr>
              <a:t>EasyPhone AI / 爸妈别急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2437"/>
                </a:solidFill>
                <a:latin typeface="Microsoft YaHei"/>
              </a:rPr>
              <a:t>方案：一个有安全边界的手机教练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97480"/>
                </a:solidFill>
                <a:latin typeface="Microsoft YaHei"/>
              </a:rPr>
              <a:t>不是替老人操作手机，而是帮助老人安全地理解下一步。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874519"/>
            <a:ext cx="2331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7" y="21214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80ED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7" y="2788920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2437"/>
                </a:solidFill>
                <a:latin typeface="Microsoft YaHei"/>
              </a:rPr>
              <a:t>语音提问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3429000"/>
            <a:ext cx="18745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97480"/>
                </a:solidFill>
                <a:latin typeface="Microsoft YaHei"/>
              </a:rPr>
              <a:t>老人直接说“微信没有声音了”。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74519"/>
            <a:ext cx="2331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214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80ED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88920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2437"/>
                </a:solidFill>
                <a:latin typeface="Microsoft YaHei"/>
              </a:rPr>
              <a:t>风险判断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429000"/>
            <a:ext cx="18745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97480"/>
                </a:solidFill>
                <a:latin typeface="Microsoft YaHei"/>
              </a:rPr>
              <a:t>规则兜底 + AI 增强，先判断能不能教。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1874519"/>
            <a:ext cx="2331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21214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80ED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2788920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2437"/>
                </a:solidFill>
                <a:latin typeface="Microsoft YaHei"/>
              </a:rPr>
              <a:t>低风险分步教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3429000"/>
            <a:ext cx="18745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97480"/>
                </a:solidFill>
                <a:latin typeface="Microsoft YaHei"/>
              </a:rPr>
              <a:t>每次只给一步，大字 + 语音播报。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6024" y="1874519"/>
            <a:ext cx="2331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64624" y="21214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80ED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624" y="2788920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2437"/>
                </a:solidFill>
                <a:latin typeface="Microsoft YaHei"/>
              </a:rPr>
              <a:t>高风险立刻停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3429000"/>
            <a:ext cx="18745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97480"/>
                </a:solidFill>
                <a:latin typeface="Microsoft YaHei"/>
              </a:rPr>
              <a:t>不进入教程，生成家人求助卡。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687568"/>
            <a:ext cx="10287000" cy="585216"/>
          </a:xfrm>
          <a:prstGeom prst="roundRect">
            <a:avLst/>
          </a:prstGeom>
          <a:solidFill>
            <a:srgbClr val="10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843016"/>
            <a:ext cx="9692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核心闭环：老人说问题 → 系统先判风险 → 能教才教，危险就停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465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Microsoft YaHei"/>
              </a:rPr>
              <a:t>EasyPhone AI / 爸妈别急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2437"/>
                </a:solidFill>
                <a:latin typeface="Microsoft YaHei"/>
              </a:rPr>
              <a:t>关键差异：AI 知道什么时候不该回答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97480"/>
                </a:solidFill>
                <a:latin typeface="Microsoft YaHei"/>
              </a:rPr>
              <a:t>反诈场景里，乱帮忙比不帮忙更危险。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00784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697480"/>
                </a:solidFill>
                <a:latin typeface="Microsoft YaHei"/>
              </a:rPr>
              <a:t>Most AI assistants try to answer every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6B5F"/>
                </a:solidFill>
                <a:latin typeface="Microsoft YaHei"/>
              </a:rPr>
              <a:t>EasyPhone AI knows when not to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444752"/>
            <a:ext cx="48920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828800"/>
            <a:ext cx="4206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8"/>
                </a:solidFill>
                <a:latin typeface="Microsoft YaHei"/>
              </a:defRPr>
            </a:pPr>
            <a:r>
              <a:t>先判断风险，再决定是否指导</a:t>
            </a:r>
          </a:p>
          <a:p>
            <a:pPr>
              <a:spcAft>
                <a:spcPts val="1000"/>
              </a:spcAft>
              <a:defRPr sz="1600">
                <a:solidFill>
                  <a:srgbClr val="232D38"/>
                </a:solidFill>
                <a:latin typeface="Microsoft YaHei"/>
              </a:defRPr>
            </a:pPr>
            <a:r>
              <a:t>规则兜底优先，AI 只做增强</a:t>
            </a:r>
          </a:p>
          <a:p>
            <a:pPr>
              <a:spcAft>
                <a:spcPts val="1000"/>
              </a:spcAft>
              <a:defRPr sz="1600">
                <a:solidFill>
                  <a:srgbClr val="232D38"/>
                </a:solidFill>
                <a:latin typeface="Microsoft YaHei"/>
              </a:defRPr>
            </a:pPr>
            <a:r>
              <a:t>多关键词命中取最高风险等级</a:t>
            </a:r>
          </a:p>
          <a:p>
            <a:pPr>
              <a:spcAft>
                <a:spcPts val="1000"/>
              </a:spcAft>
              <a:defRPr sz="1600">
                <a:solidFill>
                  <a:srgbClr val="232D38"/>
                </a:solidFill>
                <a:latin typeface="Microsoft YaHei"/>
              </a:defRPr>
            </a:pPr>
            <a:r>
              <a:t>高风险不进入普通教程</a:t>
            </a:r>
          </a:p>
          <a:p>
            <a:pPr>
              <a:spcAft>
                <a:spcPts val="1000"/>
              </a:spcAft>
              <a:defRPr sz="1600">
                <a:solidFill>
                  <a:srgbClr val="232D38"/>
                </a:solidFill>
                <a:latin typeface="Microsoft YaHei"/>
              </a:defRPr>
            </a:pPr>
            <a:r>
              <a:t>求助卡不诱导老人泄露敏感信息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19472"/>
            <a:ext cx="4956048" cy="658368"/>
          </a:xfrm>
          <a:prstGeom prst="roundRect">
            <a:avLst/>
          </a:prstGeom>
          <a:solidFill>
            <a:srgbClr val="FFF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023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02437"/>
                </a:solidFill>
                <a:latin typeface="Microsoft YaHei"/>
              </a:rPr>
              <a:t>不是“更会答”，而是“更知道边界”。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465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Microsoft YaHei"/>
              </a:rPr>
              <a:t>EasyPhone AI / 爸妈别急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2437"/>
                </a:solidFill>
                <a:latin typeface="Microsoft YaHei"/>
              </a:rPr>
              <a:t>产品流程：低风险教，高风险停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97480"/>
                </a:solidFill>
                <a:latin typeface="Microsoft YaHei"/>
              </a:rPr>
              <a:t>同一个入口，根据风险走两条完全不同的路径。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922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2437"/>
                </a:solidFill>
                <a:latin typeface="Microsoft YaHei"/>
              </a:rPr>
              <a:t>用户输入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60020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79222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2437"/>
                </a:solidFill>
                <a:latin typeface="Microsoft YaHei"/>
              </a:rPr>
              <a:t>风险分类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024128"/>
            <a:ext cx="2377440" cy="640080"/>
          </a:xfrm>
          <a:prstGeom prst="roundRect">
            <a:avLst/>
          </a:prstGeom>
          <a:solidFill>
            <a:srgbClr val="BEE8D3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6752" y="12161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2437"/>
                </a:solidFill>
                <a:latin typeface="Microsoft YaHei"/>
              </a:rPr>
              <a:t>低风险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024128"/>
            <a:ext cx="2514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21615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2437"/>
                </a:solidFill>
                <a:latin typeface="Microsoft YaHei"/>
              </a:rPr>
              <a:t>确认 + 分步指导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218688"/>
            <a:ext cx="2377440" cy="640080"/>
          </a:xfrm>
          <a:prstGeom prst="roundRect">
            <a:avLst/>
          </a:prstGeom>
          <a:solidFill>
            <a:srgbClr val="FF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34107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高风险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218688"/>
            <a:ext cx="2514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3410712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02437"/>
                </a:solidFill>
                <a:latin typeface="Microsoft YaHei"/>
              </a:rPr>
              <a:t>停止 + 求助卡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1920240"/>
            <a:ext cx="411480" cy="0"/>
          </a:xfrm>
          <a:prstGeom prst="line">
            <a:avLst/>
          </a:prstGeom>
          <a:ln w="25400">
            <a:solidFill>
              <a:srgbClr val="10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303520" y="1344168"/>
            <a:ext cx="502920" cy="576072"/>
          </a:xfrm>
          <a:prstGeom prst="line">
            <a:avLst/>
          </a:prstGeom>
          <a:ln w="25400">
            <a:solidFill>
              <a:srgbClr val="10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1920240"/>
            <a:ext cx="502920" cy="1618488"/>
          </a:xfrm>
          <a:prstGeom prst="line">
            <a:avLst/>
          </a:prstGeom>
          <a:ln w="25400">
            <a:solidFill>
              <a:srgbClr val="10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83879" y="1344168"/>
            <a:ext cx="548641" cy="0"/>
          </a:xfrm>
          <a:prstGeom prst="line">
            <a:avLst/>
          </a:prstGeom>
          <a:ln w="25400">
            <a:solidFill>
              <a:srgbClr val="10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83879" y="3538728"/>
            <a:ext cx="548641" cy="0"/>
          </a:xfrm>
          <a:prstGeom prst="line">
            <a:avLst/>
          </a:prstGeom>
          <a:ln w="25400">
            <a:solidFill>
              <a:srgbClr val="1024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4800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80ED"/>
                </a:solidFill>
                <a:latin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280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437"/>
                </a:solidFill>
                <a:latin typeface="Microsoft YaHei"/>
              </a:rPr>
              <a:t>每次只教一步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23951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97480"/>
                </a:solidFill>
                <a:latin typeface="Microsoft YaHei"/>
              </a:rPr>
              <a:t>降低阅读压力和误操作概率。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800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6B5F"/>
                </a:solidFill>
                <a:latin typeface="Microsoft Ya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8280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437"/>
                </a:solidFill>
                <a:latin typeface="Microsoft YaHei"/>
              </a:rPr>
              <a:t>危险不继续教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23951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97480"/>
                </a:solidFill>
                <a:latin typeface="Microsoft YaHei"/>
              </a:rPr>
              <a:t>验证码、转账、屏幕共享立即停止。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800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F80ED"/>
                </a:solidFill>
                <a:latin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82803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2437"/>
                </a:solidFill>
                <a:latin typeface="Microsoft YaHei"/>
              </a:rPr>
              <a:t>家人能看懂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23951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97480"/>
                </a:solidFill>
                <a:latin typeface="Microsoft YaHei"/>
              </a:rPr>
              <a:t>把老人模糊表达整理成求助单。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465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Microsoft YaHei"/>
              </a:rPr>
              <a:t>EasyPhone AI / 爸妈别急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2437"/>
                </a:solidFill>
                <a:latin typeface="Microsoft YaHei"/>
              </a:rPr>
              <a:t>Demo：3 个场景跑完整闭环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97480"/>
                </a:solidFill>
                <a:latin typeface="Microsoft YaHei"/>
              </a:rPr>
              <a:t>路演只看一件事：系统何时教，何时停。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536192"/>
            <a:ext cx="10515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8992" y="1737360"/>
            <a:ext cx="1234440" cy="384048"/>
          </a:xfrm>
          <a:prstGeom prst="roundRect">
            <a:avLst/>
          </a:prstGeom>
          <a:solidFill>
            <a:srgbClr val="BE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37943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2437"/>
                </a:solidFill>
                <a:latin typeface="Microsoft YaHei"/>
              </a:rPr>
              <a:t>低风险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7190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02437"/>
                </a:solidFill>
                <a:latin typeface="Microsoft YaHei"/>
              </a:rPr>
              <a:t>微信没有声音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7465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97480"/>
                </a:solidFill>
                <a:latin typeface="Microsoft YaHei"/>
              </a:rPr>
              <a:t>确认问题 → 进入分步教程 → 语音播报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889504"/>
            <a:ext cx="10515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3090672"/>
            <a:ext cx="1234440" cy="384048"/>
          </a:xfrm>
          <a:prstGeom prst="roundRect">
            <a:avLst/>
          </a:prstGeom>
          <a:solidFill>
            <a:srgbClr val="BE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191256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2437"/>
                </a:solidFill>
                <a:latin typeface="Microsoft YaHei"/>
              </a:rPr>
              <a:t>低风险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07238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02437"/>
                </a:solidFill>
                <a:latin typeface="Microsoft YaHei"/>
              </a:rPr>
              <a:t>手机字体太小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0998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97480"/>
                </a:solidFill>
                <a:latin typeface="Microsoft YaHei"/>
              </a:rPr>
              <a:t>大字短句 → 没看到可换一种说法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42816"/>
            <a:ext cx="10515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" y="4443983"/>
            <a:ext cx="1234440" cy="384048"/>
          </a:xfrm>
          <a:prstGeom prst="roundRect">
            <a:avLst/>
          </a:prstGeom>
          <a:solidFill>
            <a:srgbClr val="FF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544568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02437"/>
                </a:solidFill>
                <a:latin typeface="Microsoft YaHei"/>
              </a:rPr>
              <a:t>高风险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4256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02437"/>
                </a:solidFill>
                <a:latin typeface="Microsoft YaHei"/>
              </a:rPr>
              <a:t>医保短信 + 验证码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4531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97480"/>
                </a:solidFill>
                <a:latin typeface="Microsoft YaHei"/>
              </a:rPr>
              <a:t>停止指导 → 不点链接 → 生成家人求助卡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Microsoft YaHei"/>
              </a:rPr>
              <a:t>EasyPhone AI / 爸妈别急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2437"/>
                </a:solidFill>
                <a:latin typeface="Microsoft YaHei"/>
              </a:rPr>
              <a:t>技术与安全：规则兜底，AI 增强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97480"/>
                </a:solidFill>
                <a:latin typeface="Microsoft YaHei"/>
              </a:rPr>
              <a:t>安全判断不能完全交给模型。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72768"/>
            <a:ext cx="50749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4708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437"/>
                </a:solidFill>
                <a:latin typeface="Microsoft YaHei"/>
              </a:rPr>
              <a:t>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4343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Next.js 16 + React 19 + TypeScript</a:t>
            </a:r>
          </a:p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Tailwind CSS 4</a:t>
            </a:r>
          </a:p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Web Speech API 语音输入</a:t>
            </a:r>
          </a:p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SpeechSynthesis 语音播报</a:t>
            </a:r>
          </a:p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可选 DeepSeek AI 风险复检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72768"/>
            <a:ext cx="50749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184708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437"/>
                </a:solidFill>
                <a:latin typeface="Microsoft YaHei"/>
              </a:rPr>
              <a:t>安全不变量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423160"/>
            <a:ext cx="4343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高风险统一由路由层分流</a:t>
            </a:r>
          </a:p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多关键词命中取最高风险 MAX(level)</a:t>
            </a:r>
          </a:p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高风险不进入普通教程</a:t>
            </a:r>
          </a:p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求助卡不教“把验证码发给我”</a:t>
            </a:r>
          </a:p>
          <a:p>
            <a:pPr>
              <a:spcAft>
                <a:spcPts val="1000"/>
              </a:spcAft>
              <a:defRPr sz="1400">
                <a:solidFill>
                  <a:srgbClr val="232D38"/>
                </a:solidFill>
                <a:latin typeface="Microsoft YaHei"/>
              </a:defRPr>
            </a:pPr>
            <a:r>
              <a:t>不读短信、通讯录、定位；不做远程控制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97480"/>
                </a:solidFill>
                <a:latin typeface="Microsoft YaHei"/>
              </a:rPr>
              <a:t>架构原则：风险逻辑放在 domain 层，避免页面组件复制判断导致脆弱和冗余。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465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Microsoft YaHei"/>
              </a:rPr>
              <a:t>EasyPhone AI / 爸妈别急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02437"/>
                </a:solidFill>
                <a:latin typeface="Microsoft YaHei"/>
              </a:rPr>
              <a:t>当前进展与下一步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2412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97480"/>
                </a:solidFill>
                <a:latin typeface="Microsoft YaHei"/>
              </a:rPr>
              <a:t>MVP 已上线，下一阶段需要真实用户验证。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" y="146304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" y="1783080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437"/>
                </a:solidFill>
                <a:latin typeface="Microsoft YaHei"/>
              </a:rP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33172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核心领域模型：risk / question / tutorial / help / routing</a:t>
            </a:r>
          </a:p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首页输入、语音、确认页</a:t>
            </a:r>
          </a:p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低风险分步教程</a:t>
            </a:r>
          </a:p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高风险中断 + 家人求助卡</a:t>
            </a:r>
          </a:p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AI 风险复检与 Vercel 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783080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437"/>
                </a:solidFill>
                <a:latin typeface="Microsoft YaHei"/>
              </a:rPr>
              <a:t>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233172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真实老人 / 家属可用性测试</a:t>
            </a:r>
          </a:p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扩充白名单教程库</a:t>
            </a:r>
          </a:p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优化求助卡分享体验</a:t>
            </a:r>
          </a:p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家人端与社区服务站场景</a:t>
            </a:r>
          </a:p>
          <a:p>
            <a:pPr>
              <a:spcAft>
                <a:spcPts val="1000"/>
              </a:spcAft>
              <a:defRPr sz="1300">
                <a:solidFill>
                  <a:srgbClr val="232D38"/>
                </a:solidFill>
                <a:latin typeface="Microsoft YaHei"/>
              </a:defRPr>
            </a:pPr>
            <a:r>
              <a:t>方言 ASR 与截图识别探索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6016752"/>
            <a:ext cx="10469880" cy="475488"/>
          </a:xfrm>
          <a:prstGeom prst="roundRect">
            <a:avLst/>
          </a:prstGeom>
          <a:solidFill>
            <a:srgbClr val="10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6153912"/>
            <a:ext cx="9966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EasyPhone AI 不只是帮助老人使用智能手机，而是帮助他们更安全地使用智能手机。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97480"/>
                </a:solidFill>
                <a:latin typeface="Microsoft YaHei"/>
              </a:rPr>
              <a:t>EasyPhone AI / 爸妈别急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